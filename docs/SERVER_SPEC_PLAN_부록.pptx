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덱은 질의응답 대비 자료입니다. 본문에서 요약한 서비스 구성, 하드웨어, 인터페이스, 권한, KS X 9001 매핑, 현행 자산 재사용 계획을 규격서와 같은 절 번호로 정리했습니다. 각 슬라이드 오른쪽 위 칩의 절 번호로 Word 규격서의 원문을 바로 찾을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과제가 직접 만드는 서비스는 일곱 개입니다. sim-engine이 실시간 미러와 What-if를, sim-batch가 Airflow 위에서 다중 시드 검증을 맡고, twin-gateway가 브라우저에 상태를 보냅니다. facos는 OCS와 API로 연계해 재배정 권고를 만들고, quality-rca는 품질과 8D, agent-llm은 자연어 설계 보조를 맡습니다. LLM은 운영 판단에 쓰지 않는다는 원칙을 각주에 다시 적었습니다.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OCS Cell과 셀·엣지 서비스는 micro-cell 설계의 선정을 그대로 따릅니다. 운영 트윈은 이 중 BaSyx, Machbase, RabbitMQ에서 상태를 받고, Trace API로 TTA 검증에 연결됩니다. Edge Gateway와 AI Ready 파이프라인, 온디바이스 엣지 SW는 연구 인력 자체 개발 항목이라 인력 확정이 선결 조건이라고 본문에서 말씀드렸습니다.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정밀조립존 OCS Cell 하드웨어는 micro-cell 설계가 정본이며, 여기에는 품목과 수량, 역할만 정리했습니다. 가장 큰 물량은 스토리지 19노드와 셀 TSN 스위치 20대이며, 스토리지 수량은 원시데이터 보관 기간 결정에 따라 6노드까지 줄 수 있습니다. 서버실 부하는 약 17.2kW로 UPS 20kVA 2대와 20kW 항온항습기로 받습니다.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로봇마다 붙는 온디바이스 엣지로, 협동로봇과 AMMR에는 Jetson Thor, AMR에는 Orin을 씁니다. 오른쪽은 용량 산정 근거로, 카메라 1대가 22.4Mbps이고 셀 평균 1,246Mbps, 월 98.7TB입니다. 원시 3개월과 AI Ready 3개월을 합쳐 1.3배 여유를 두면 2,310TB, 사용률 80%와 노드당 160TB로 나누면 19노드입니다. Depth를 기록하지 않거나 보관을 1개월로 줄이면 규모가 크게 줄어듭니다.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외부 인터페이스는 열 가지이며, 모두 명세 형식까지 정했습니다. 웹은 OpenAPI, 3D 상태 스트림은 Protocol Buffers, 존 메시징은 AsyncAPI로 명세하고, 자산 정보는 BaSyx가 제공하는 AAS Part 2 API를 그대로 씁니다. 명세는 한 패키지에서 관리하고 CI에서 하위 호환을 자동 검사하므로, 인터페이스를 바꾸면 빌드에서 바로 걸립니다.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토픽은 ISA-95 계층을 따라 사이트, 존, 셀, 도메인 순으로 짓습니다. Sparkplug B와 VDA 5050은 표준이 정한 네임스페이스를 그대로 써서 외부 SCADA나 플릿 관리 SW가 바로 읽을 수 있게 했습니다. 현행 맥 앱의 토픽은 스테이징 브리지에서 새 체계로 변환하므로 기존 시험 자산을 버리지 않아도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권한은 일곱 역할로 나눴습니다. 관제실 운영 인원 두 명에 맞춰 존 관제 운영자와 셀 알람 대응자를 분리했고, 둘만 HOLD 승인과 재배정을 할 수 있습니다. 공정 설계 적용은 운영자가 요청하고 관리자가 승인하는 2단계이며, 데이터 내보내기는 감사 기록이 남습니다. G4 게이트의 승인 없는 쓰기 0건은 이 감사 로그로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KS X 9001-3의 운영관리시스템 프레임워크는 다섯 계층과 여섯 프로세스로 되어 있습니다. 왼쪽 계층 표에서 기계 및 제어 계층은 PLC와 로봇 컨트롤러이며 본 시스템은 읽기와 감독만 한다고 명시했습니다. 오른쪽 프로세스 표는 제품개발부터 물류관리까지 각 프로세스를 맡는 서비스를 대응시킨 것입니다. 이 매핑은 공개 요약 기준이므로 원문 입수 후 조항 번호로 다시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현행 자산은 거의 모두 재사용합니다. 결정론 엔진과 존 정의는 sim-core로 옮기고, 화면 전용이던 확장 Zone 흐름은 헤드리스로 다시 써서 G2 게이트를 통과시킵니다. AAS·센서·품질 통신을 만들던 모듈은 스테이징의 가상 셀 데이터 발생기로 바꿔 실설비 없이 전 경로를 시험하는 데 씁니다. 기존 테스트 37개도 판정 기준과 시드를 유지한 채 Vitest로 옮깁니다.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마지막은 근거 매핑입니다. 구조와 용량, 하드웨어와 SW 선정은 micro-cell 설계를, 기능과 비기능 기준은 기존 개발 설계서를 근거로 했습니다. 스마트공장 표준은 KS X 9001 계열 여섯 개 부이며, 일정과 인력, 일부 게이트 목표값은 설계 추정이라 착수 단계 종료 시 다시 산정한다는 점을 명시했습니다.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1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운영형 개발 규격·계획 — 부록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서비스·하드웨어·인터페이스·권한·KS X 9001 매핑·자산 재사용 상세 (Q&amp;A 대비)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 서비스 구성 (본 과제 · OCS Cell)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8803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존·셀 하드웨어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28803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온디바이스 엣지·데이터 용량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 외부 인터페이스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246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 토픽 체계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3246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 사용자·권한(RBAC)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11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A7 KS X 9001-3 프레임워크 매핑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611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A8 현행 자산 재사용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3611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A9 근거 매핑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E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번호와 같은 규격서 절 번호를 칩에 표기 — 질의 시 해당 슬라이드로 바로 이동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A1-1.  </a:t>
            </a:r>
            <a:pPr indent="0" marL="0">
              <a:buNone/>
            </a:pPr>
            <a:r>
              <a:rPr lang="en-US" sz="1900" b="1" dirty="0">
                <a:solidFill>
                  <a:srgbClr val="1021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구성 — 본 과제 직접 개발 7종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운영 트윈(D) 서비스는 모두 존 Local Server에 배치하고 같은 TypeScript 패키지(sim-core 등)를 공유함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812280" y="713232"/>
            <a:ext cx="1874520" cy="237744"/>
          </a:xfrm>
          <a:prstGeom prst="roundRect">
            <a:avLst>
              <a:gd name="adj" fmla="val 50000"/>
            </a:avLst>
          </a:prstGeom>
          <a:solidFill>
            <a:srgbClr val="E0F7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12280" y="71323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규격서 2.3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692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› A1 서비스 구성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48646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4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운영형 개발 규격·계획 — 부록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6460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749040"/>
                <a:gridCol w="233172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기반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sim-engine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미러·What-if 세션 실행 (sim-core 결정론 엔진)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Node.js 24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 Server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sim-batch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다중 시드 비교·개선안 트윈 검증 [R1 §7(9)]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Airflow KubernetesPodOperator + sim-core 워커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 Server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twin-gateway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WebSocket, 세션별 상태 델타, 구독 범위 제어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Fastify · protobuf-es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 Server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facos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공장·존·셀 에이전트, A2A 기록, 재배정 권고 — OCS와 API 연계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Node.js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 Server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quality-rca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계보·NG·RCA·8D, 불량 보고 수신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Fastify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 Server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agent-llm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자연어 지시 해석·설계 초안, MCP 서버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Fastify · @anthropic-ai/sdk · MCP SDK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 Server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3D 트윈·관제 SPA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Vite · three.js · Preact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 Server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46177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운영 판단의 기본은 규칙·추론 기반이며, LLM은 지시 해석·설계 초안에만 쓰고 출력은 스키마 검증 후 사람 승인 [R1 §8].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A1-2.  </a:t>
            </a:r>
            <a:pPr indent="0" marL="0">
              <a:buNone/>
            </a:pPr>
            <a:r>
              <a:rPr lang="en-US" sz="1900" b="1" dirty="0">
                <a:solidFill>
                  <a:srgbClr val="1021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구성 — OCS Cell·셀·엣지 ([R7] 계승)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본 과제는 아래 서비스를 다시 고르지 않고 [R7] 선정을 그대로 연계 대상으로 삼음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812280" y="713232"/>
            <a:ext cx="1874520" cy="237744"/>
          </a:xfrm>
          <a:prstGeom prst="roundRect">
            <a:avLst>
              <a:gd name="adj" fmla="val 50000"/>
            </a:avLst>
          </a:prstGeom>
          <a:solidFill>
            <a:srgbClr val="E0F7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12280" y="71323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[R7 §6·§8] · 규격서 2.3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692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› A1 서비스 구성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48646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4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운영형 개발 규격·계획 — 부록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6460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063240"/>
                <a:gridCol w="2514600"/>
                <a:gridCol w="96012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기반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OCS (존 오케스트레이터)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 상태 집계·배치 진척·재계획, 공장 PA Agent 연계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개발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 Server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 Repository·Registry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존 자산 AAS 저장·조회, 중앙 Enterprise AAS 동기화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Eclipse BaSyx (AAS V3)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 Server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TSDB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상태·알람·공정값, 초당 약 20만 포인트·12개월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Machbase Cluster Edition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 Server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MQTT 클러스터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중앙 전송·셀 KPI 이벤트, Sparkplug B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RabbitMQ 3노드 (MQTT 5·quorum 큐)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 Server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Ready 파이프라인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원시 → AI Ready 변환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Apache Airflow + 자체 개발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LS · GPU-2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 Lake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raw·ai-ready 버킷, 테이블 버전 관리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Ceph S3 + Iceberg + Nessie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스토리지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Feature Store · 카탈로그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학습·추론 공통 피처 · 공통 ID 리니지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Feast · OpenMetadata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 Server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추론 엔진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 판단·OK/NG·재계획 모델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NVIDIA Triton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GPU-1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Trace API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Expected↔Actual Trace 비교 제공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개발 (TTA 협의)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 Server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Edge Gateway SW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OPC UA 집약·정규화·AAS 매핑·엣지 버퍼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open62541 + PLC4X · InfluxDB 3 Core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EGW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원시 업로드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청크 업로드·store-and-forward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개발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영상 수집 노드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온디바이스 엣지 SW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제어 브리지·VLA 추론·안전 감지·에피소드 기록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JetPack · ROS 2 · Isaac ROS · ros2_control · LeRobot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Jetson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  </a:t>
            </a:r>
            <a:pPr indent="0" marL="0">
              <a:buNone/>
            </a:pPr>
            <a:r>
              <a:rPr lang="en-US" sz="1900" b="1" dirty="0">
                <a:solidFill>
                  <a:srgbClr val="1021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존·셀 하드웨어 — 정밀조립존 OCS Cell 구성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구성은 [R7] 정본 — 본 문서에는 품목·수량·역할만 옮기고 단가·총액은 옮기지 않음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812280" y="713232"/>
            <a:ext cx="1874520" cy="237744"/>
          </a:xfrm>
          <a:prstGeom prst="roundRect">
            <a:avLst>
              <a:gd name="adj" fmla="val 50000"/>
            </a:avLst>
          </a:prstGeom>
          <a:solidFill>
            <a:srgbClr val="E0F7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12280" y="71323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[R7 §5] · 규격서 8.1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692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› A2 하드웨어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48646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4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운영형 개발 규격·계획 — 부록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6460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7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069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548640"/>
                <a:gridCol w="19202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서버 LS-1~3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RKE2 HA, 존 SW 약 20종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서버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추론 / AI Ready·재학습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스토리지 노드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Ceph S3 Data Lake (EC 4+2)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백업 NAS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AAS·TSDB·설정·모델 백업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Edge Gateway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 5 + 냉예비 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영상 수집 노드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카메라 55대/셀 수신·버퍼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 네트워크 캐비닛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18U · 2.2kVA UPS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코어 스위치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25/100GbE · MLAG · PTP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 TSN 스위치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802.1AS·Qbv, µs급 동기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280160"/>
          <a:ext cx="4069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548640"/>
                <a:gridCol w="19202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 액세스·PoE 스위치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 비전·AP·제어 PC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관리망 스위치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IPMI·관리망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산업용 방화벽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(HA)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OPC UA·MQTT DPI, 존·도관 경계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PTP 그랜드마스터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GNSS · 1588/802.1AS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Wi-Fi 6E AP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AMR·AMMR 업로드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OCS 운영 WS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존 관제 1 + 셀 알람 대응 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DT 워크스테이션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DMWorks 1 + Isaac 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관제 비디오월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1식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55″ 2×2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랙·UPS·항온항습·KVM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4·2·1·1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부하 약 17.2kW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57200" y="46177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견적 미확보 품목(Thor 산업용 엣지·서버·스토리지·방화벽·PTP·항온항습기)은 비교견적 2건 확보 후 확정 [R7 확인 필요].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  </a:t>
            </a:r>
            <a:pPr indent="0" marL="0">
              <a:buNone/>
            </a:pPr>
            <a:r>
              <a:rPr lang="en-US" sz="1900" b="1" dirty="0">
                <a:solidFill>
                  <a:srgbClr val="1021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온디바이스 엣지·데이터 용량 산정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로봇 15대/셀에 엣지 1대씩 — 카메라 영상이 존 월 494TB의 98%를 차지함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812280" y="713232"/>
            <a:ext cx="1874520" cy="237744"/>
          </a:xfrm>
          <a:prstGeom prst="roundRect">
            <a:avLst>
              <a:gd name="adj" fmla="val 50000"/>
            </a:avLst>
          </a:prstGeom>
          <a:solidFill>
            <a:srgbClr val="E0F7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12280" y="71323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[R7 §4·§7] · 규격서 4.2·8.2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692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› A3 엣지·용량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48646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4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운영형 개발 규격·계획 — 부록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6460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7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069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11480"/>
                <a:gridCol w="502920"/>
                <a:gridCol w="16002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엣지 품목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셀당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협동로봇·AMMR용 Jetson Thor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VLA·파지 추론, 카메라 기록, 제어 브리지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AMR용 Jetson Orin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LiDAR·카메라 인지, 도킹, 버퍼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Wi-Fi 6E · 5G 모뎀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· 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 · 25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로봇 업로드 (이음5G n79)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국산 NPU (선택)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GPU·NPU 지연·전력 비교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280160"/>
          <a:ext cx="40690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8346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용량 항목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산출식 → 값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카메라 대역폭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RGB 4 + Depth 18.4 → 22.4 Mbps/대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 평균 대역폭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카메라 + 텔레메트리 → 1,246 Mbps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 태그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장비당 약 400 → 9,950/셀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발생량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176h 연속 → 98.7TB/셀, 존 493.6TB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 저장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(1,481 + 296) × 1.3 → 2,310TB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스토리지 노드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÷0.8 ÷ 160TB → 19노드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57200" y="46177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보관 1개월이면 약 770TB·6노드, Depth 미기록이면 월 약 92TB — 가정에 따라 크게 변동하므로 S0에서 카메라 설정·보관 정책 확정.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  </a:t>
            </a:r>
            <a:pPr indent="0" marL="0">
              <a:buNone/>
            </a:pPr>
            <a:r>
              <a:rPr lang="en-US" sz="1900" b="1" dirty="0">
                <a:solidFill>
                  <a:srgbClr val="1021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인터페이스 — 명세 형식까지 확정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모든 인터페이스는 OpenAPI·AsyncAPI·proto 중 하나로 명세하고 CI에서 하위 호환을 검사함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812280" y="713232"/>
            <a:ext cx="1874520" cy="237744"/>
          </a:xfrm>
          <a:prstGeom prst="roundRect">
            <a:avLst>
              <a:gd name="adj" fmla="val 50000"/>
            </a:avLst>
          </a:prstGeom>
          <a:solidFill>
            <a:srgbClr val="E0F7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12280" y="71323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규격서 6.1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692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› A4 인터페이스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48646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4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운영형 개발 규격·계획 — 부록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6460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874520"/>
                <a:gridCol w="3017520"/>
                <a:gridCol w="17373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명세 형식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화면 ↔ 서버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HTTPS REST · WSS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/api/{서비스}/v1, 오류 RFC 9457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OpenAPI 3.1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3D 상태 스트림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WSS + Protocol Buffers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twin.v1.StateDelta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.proto (Buf)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존 메시징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MQTT 5 (RabbitMQ)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UNS 토픽 체계, Sparkplug B 3.0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AsyncAPI 3.0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자산 정보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 Part 2 REST (BaSyx)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IDTA-01002, 메타모델 v3.1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BaSyx OpenAPI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 정보 모델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OPC UA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IEC 62541 · OPC 30270 · 40010 · 40501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NodeSet2 XML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 장비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PLC4X 드라이버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S7 · Modbus · EtherNet/IP · ADS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드라이버 설정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로봇 · AMR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ROS 2 Jazzy · VDA 5050 v2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/joint_states·/wrench · order·state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.msg · JSON Schema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중앙 Server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MQTT · REST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Ready 메타·KPI 발행, 작업지시 구독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AsyncAPI · OpenAPI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TTA 검증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Trace API (REST)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Expected↔Actual Trace 비교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OpenAPI (TTA 협의)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 계보 · 외부 에이전트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EPCIS 2.0 · MCP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GS1 EPCIS/CBV 2.0 · Streamable HTTP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OpenAPI · MCP 스키마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46177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공통 규칙 — 스키마 버전 명시, 호환 깨짐 시 v2 별도 개설, RFC 3339 UTC µs, 접수형 202 + 티켓, Idempotency-Key 멱등 처리.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  </a:t>
            </a:r>
            <a:pPr indent="0" marL="0">
              <a:buNone/>
            </a:pPr>
            <a:r>
              <a:rPr lang="en-US" sz="1900" b="1" dirty="0">
                <a:solidFill>
                  <a:srgbClr val="1021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토픽 체계 — ISA-95 계층 + 표준 네임스페이스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Sparkplug·VDA 5050은 표준이 정한 네임스페이스를 그대로 쓰고, 나머지는 mf/ 체계를 씀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812280" y="713232"/>
            <a:ext cx="1874520" cy="237744"/>
          </a:xfrm>
          <a:prstGeom prst="roundRect">
            <a:avLst>
              <a:gd name="adj" fmla="val 50000"/>
            </a:avLst>
          </a:prstGeom>
          <a:solidFill>
            <a:srgbClr val="E0F7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12280" y="71323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규격서 6.2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692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› A5 토픽 체계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48646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4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운영형 개발 규격·계획 — 부록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6460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229600" cy="1051560"/>
          </a:xfrm>
          <a:prstGeom prst="roundRect">
            <a:avLst>
              <a:gd name="adj" fmla="val 5217"/>
            </a:avLst>
          </a:prstGeom>
          <a:solidFill>
            <a:srgbClr val="F4F7FC"/>
          </a:solidFill>
          <a:ln w="6350">
            <a:solidFill>
              <a:srgbClr val="C9D4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28016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02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mf/{site}/{area}/{cell}/{domain}/v1/{type}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  a3-precision · a1-flexible · a2-machining · inspection · logistics      cell  A-3-1 … A-3-5 (존 단위는 _zone)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  telemetry · event · quality · fleet · kpi · trace      type  data · alarm · report · result · ack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2240280"/>
                <a:gridCol w="1874520"/>
                <a:gridCol w="685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토픽 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발행 → 구독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페이로드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QoS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spBv1.0/mf-a3/DDATA/{egw}/{device}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EGW → 운영 TSDB·sim-engine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Sparkplug B 3.0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mf/{site}/a3-precision/A-3-5/telemetry/v1/data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EGW → sim-engine·interop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OPC UA PubSub JSON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uagv/v2/{manufacturer}/{serial}/state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AMR → sim-engine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VDA 5050 v2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mf/{site}/a3-precision/A-3-5/kpi/v1/data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OCS → 중앙 Server·DCC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사이클타임·NG율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mf/{site}/a3-precision/_zone/event/v1/alarm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OCS·엣지 → 관제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CloudEvents 1.0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mf/{site}/a3-precision/A-3-5/trace/v1/data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OCS·EGW → Trace API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CloudEvents 1.0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" y="46177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현행 토픽 metafactory/{영역}/v1/… [R1 §6]은 스테이징 브리지에서 변환해 하위 호환을 유지함.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A6.  </a:t>
            </a:r>
            <a:pPr indent="0" marL="0">
              <a:buNone/>
            </a:pPr>
            <a:r>
              <a:rPr lang="en-US" sz="1900" b="1" dirty="0">
                <a:solidFill>
                  <a:srgbClr val="1021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사용자·권한 — 역할 7종 RBAC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HOLD 승인·재배정은 관제 운영자와 셀 알람 대응자만, 설계 적용은 관리자 승인으로만 가능함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812280" y="713232"/>
            <a:ext cx="1874520" cy="237744"/>
          </a:xfrm>
          <a:prstGeom prst="roundRect">
            <a:avLst>
              <a:gd name="adj" fmla="val 50000"/>
            </a:avLst>
          </a:prstGeom>
          <a:solidFill>
            <a:srgbClr val="E0F7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12280" y="71323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규격서 5.3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692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› A6 권한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48646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4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운영형 개발 규격·계획 — 부록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6460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914400"/>
                <a:gridCol w="960120"/>
                <a:gridCol w="960120"/>
                <a:gridCol w="960120"/>
                <a:gridCol w="96012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3D 관제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What-if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 적용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HOLD 승인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티켓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내보내기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관리자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90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90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승인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90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90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90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존 관제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90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90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90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 알람 대응자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90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90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담당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90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90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90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데이터·AI 엔지니어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90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90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감사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열람자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90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감사자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감사 로그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46177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인증은 Keycloak OIDC SSO(관리자 MFA), 서버 접근은 HIWARE 통제, 모든 설계 적용·내보내기·LLM 호출은 감사 로그 1년 보관.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A7.  </a:t>
            </a:r>
            <a:pPr indent="0" marL="0">
              <a:buNone/>
            </a:pPr>
            <a:r>
              <a:rPr lang="en-US" sz="1900" b="1" dirty="0">
                <a:solidFill>
                  <a:srgbClr val="1021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 X 9001-3 프레임워크 매핑 — 5계층·6프로세스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운영관리시스템 프레임워크의 모든 칸에 대응 서비스가 있음 — 기계·제어 계층은 읽기·감독만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812280" y="713232"/>
            <a:ext cx="1874520" cy="237744"/>
          </a:xfrm>
          <a:prstGeom prst="roundRect">
            <a:avLst>
              <a:gd name="adj" fmla="val 50000"/>
            </a:avLst>
          </a:prstGeom>
          <a:solidFill>
            <a:srgbClr val="E0F7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12280" y="71323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[K3] · 규격서 10.3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692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› A7 KS X 9001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48646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4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운영형 개발 규격·계획 — 부록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6460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0690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계층 [K3]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시스템 대응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비전 및 전략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3단계 운영 비교 결과로 투자 판단 근거 제공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및 성과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KPI 영향·개선(OEE 손실 분해, ISO 22400-2), 수준 자가진단 화면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기업경영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중앙 Server·ERP 연계(B2MML), FAC 업무 기록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제조운영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OCS·FACOS 에이전트·운영 트윈·품질 RCA·8D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기계 및 제어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 PLC EtherCAT·로봇 컨트롤러 (읽기·감독만)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280160"/>
          <a:ext cx="406908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301752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프로세스 [K3]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 기능 · 서비스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제품개발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 설계·레시피·검증 DT 시운전 · agent-llm·DMWorks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생산계획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오더 배정·재배정·납기 예측 · OCS·facos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공정관리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상태머신·HOLD·미러 · OCS·sim-engine·Triton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품질관리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계보·NG·RCA·8D · quality-rca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설비관리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 상태·정비·Maintenance 서브모델 · BaSyx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물류관리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AMR·AMMR·VDA 5050 교통 · Open-RMF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57200" y="46177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조항 번호 단위 대조는 S0에서 원문 입수 후 확정 — 본 표는 공개된 프레임워크 요약(5계층·6프로세스) 기준임.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A8.  </a:t>
            </a:r>
            <a:pPr indent="0" marL="0">
              <a:buNone/>
            </a:pPr>
            <a:r>
              <a:rPr lang="en-US" sz="1900" b="1" dirty="0">
                <a:solidFill>
                  <a:srgbClr val="1021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자산 재사용 — 버리지 않고 이식·전환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결정론 엔진·3D 자산·테스트 37개는 이식하고, 데이터 생성 모듈은 스테이징 가상 셀로 전환함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812280" y="713232"/>
            <a:ext cx="1874520" cy="237744"/>
          </a:xfrm>
          <a:prstGeom prst="roundRect">
            <a:avLst>
              <a:gd name="adj" fmla="val 50000"/>
            </a:avLst>
          </a:prstGeom>
          <a:solidFill>
            <a:srgbClr val="E0F7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12280" y="71323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규격서 부록 A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692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› A8 자산 재사용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48646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4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운영형 개발 규격·계획 — 부록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6460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자산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 방식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js/sim.js · line.js · zonedefs.js · zonerecipe.js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sim-core로 이식, 정밀조립존 셀 정의를 [R7] 5셀·로봇 15대로 갱신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js/zones.js · inspzone.js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헤드리스로 재작성 후 sim-core에 편입 (G2 헤드리스 100%)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js/factory.js · payload-robots.js · Blender 자산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3D 클라이언트로 이식, 로봇 모델은 URDF 기준 통일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js/datahub.js · aas.js · sensors.js · qcomm.js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스테이징 가상 셀 발생기 (OPC UA·Sparkplug·VDA 5050 발행)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js/vla.js 에피소드 형식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LeRobot 형식으로 전환, 실물 에피소드와 같은 스키마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server/*.mjs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Fastify 서비스로 재작성, REST v1 호환 유지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deploy/sensors/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스테이징 전용 구성으로 축소 (운영 TSDB는 Machbase)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tests/*.mjs (37개)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Vitest 이식, 판정 기준·시드 유지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맥 앱 (electron/)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간이 테스트·데모 클라이언트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A9.  </a:t>
            </a:r>
            <a:pPr indent="0" marL="0">
              <a:buNone/>
            </a:pPr>
            <a:r>
              <a:rPr lang="en-US" sz="1900" b="1" dirty="0">
                <a:solidFill>
                  <a:srgbClr val="1021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매핑 — 본문 주장과 참조 문서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모든 수치·선정은 [R#]·[K#] 근거 또는 (설계)·(설계 추정) 표시를 가짐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812280" y="713232"/>
            <a:ext cx="1874520" cy="237744"/>
          </a:xfrm>
          <a:prstGeom prst="roundRect">
            <a:avLst>
              <a:gd name="adj" fmla="val 50000"/>
            </a:avLst>
          </a:prstGeom>
          <a:solidFill>
            <a:srgbClr val="E0F7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12280" y="71323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규격서 0.5·부록 B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692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› A9 근거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48646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4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운영형 개발 규격·계획 — 부록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6460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2120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본문 항목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4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4계층 배치·데이터 경로·제어 경계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[R7] 요약·§1·§2 — micro-cell 로컬 OCS Zone 구성(정밀조립존)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데이터량·저장 용량·HW 구성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[R7] §4·§5·§7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존·셀·엣지 SW 선정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[R7] §6·§8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위험·미결 (인력·AAS·보관·중앙 경계)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[R7] 확인 필요 사항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F1~F13 · 비기능 기준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[R1] docs/DESIGN.md §2·§3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에이전트·LLM·보안 원칙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[R1] §8·§9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라이브러리 선정 원칙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[R3] docs/DEV_PLAN.md §2·§4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오픈소스·라이선스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[R2] OPEN_SOURCE.md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스마트공장 국가표준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[K1]~[K4] KS X 9001-1·-2·-3·-3-1·-3-2·-4 (국가표준인증종합정보센터·한국표준정보망)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21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일정·인력·게이트 목표값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(설계 추정) — S0 종료 시 재산정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캠틱종합기술원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서버 운영형 개발 규격·계획 — 부록 (Q&amp;A 대비)</dc:title>
  <dc:subject>PptxGenJS Presentation</dc:subject>
  <dc:creator>Jin Park</dc:creator>
  <cp:lastModifiedBy>Jin Park</cp:lastModifiedBy>
  <cp:revision>1</cp:revision>
  <dcterms:created xsi:type="dcterms:W3CDTF">2026-10-19T11:03:16Z</dcterms:created>
  <dcterms:modified xsi:type="dcterms:W3CDTF">2026-10-19T11:03:16Z</dcterms:modified>
</cp:coreProperties>
</file>